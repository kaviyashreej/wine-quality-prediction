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34" autoAdjust="0"/>
    <p:restoredTop sz="94660"/>
  </p:normalViewPr>
  <p:slideViewPr>
    <p:cSldViewPr snapToGrid="0">
      <p:cViewPr>
        <p:scale>
          <a:sx n="50" d="100"/>
          <a:sy n="50" d="100"/>
        </p:scale>
        <p:origin x="1032" y="43"/>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04-04-2024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11" y="3974123"/>
            <a:ext cx="21625346"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66289"/>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12911" y="15729892"/>
            <a:ext cx="21612436" cy="6680802"/>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12911" y="22410996"/>
            <a:ext cx="21612436"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752473"/>
            <a:ext cx="21670008" cy="5007177"/>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892530" y="4378180"/>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2522585"/>
            <a:ext cx="2159952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892530" y="15979142"/>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92530" y="22803200"/>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93707" y="28080740"/>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4540"/>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Effective Analysis of Wine Quality Prediction Using Random Forest Regression In Comparison with </a:t>
            </a:r>
          </a:p>
          <a:p>
            <a:pPr algn="ctr"/>
            <a:r>
              <a:rPr lang="en-US" sz="3583" b="1" dirty="0">
                <a:latin typeface="Times New Roman" panose="02020603050405020304" pitchFamily="18" charset="0"/>
                <a:cs typeface="Times New Roman" panose="02020603050405020304" pitchFamily="18" charset="0"/>
              </a:rPr>
              <a:t>Ridge Regression</a:t>
            </a:r>
          </a:p>
        </p:txBody>
      </p:sp>
      <p:sp>
        <p:nvSpPr>
          <p:cNvPr id="20" name="Rectangle 19"/>
          <p:cNvSpPr/>
          <p:nvPr/>
        </p:nvSpPr>
        <p:spPr>
          <a:xfrm>
            <a:off x="1892530" y="10263441"/>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246095" y="4729533"/>
            <a:ext cx="14171371" cy="4808752"/>
          </a:xfrm>
          <a:prstGeom prst="rect">
            <a:avLst/>
          </a:prstGeom>
          <a:noFill/>
        </p:spPr>
        <p:txBody>
          <a:bodyPr wrap="square" rtlCol="0">
            <a:spAutoFit/>
          </a:bodyPr>
          <a:lstStyle/>
          <a:p>
            <a:r>
              <a:rPr lang="en-IN" sz="2189"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Wine Quality Prediction refers to the analysis of the quality of wine based on heap of factors including grape assortment , climate conditions, maturation strategies and mature forms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The aim of this study is to give high accuracy in predicting the quality of wine using the different chemical compositions present in the wine as parameters  .</a:t>
            </a:r>
          </a:p>
          <a:p>
            <a:pPr algn="just"/>
            <a:r>
              <a:rPr lang="en-US" altLang="en-IN" sz="2189" b="1" dirty="0">
                <a:latin typeface="Times New Roman" panose="02020603050405020304" pitchFamily="18" charset="0"/>
                <a:cs typeface="Times New Roman" panose="02020603050405020304" pitchFamily="18" charset="0"/>
                <a:sym typeface="+mn-ea"/>
              </a:rPr>
              <a:t> </a:t>
            </a: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By comparing the execution of Random Forest Regression with that of Ridge Regression, we point to supply nuanced experiences that can direct specialists and analysts in optimizing prescient modeling techniques for wine quality appraisal.</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altLang="en-IN" sz="2189" b="1" dirty="0">
                <a:latin typeface="Times New Roman" panose="02020603050405020304" pitchFamily="18" charset="0"/>
                <a:cs typeface="Times New Roman" panose="02020603050405020304" pitchFamily="18" charset="0"/>
              </a:rPr>
              <a:t>Random Forest Regression </a:t>
            </a:r>
            <a:r>
              <a:rPr lang="en-IN" sz="2189" b="1" dirty="0">
                <a:latin typeface="Times New Roman" panose="02020603050405020304" pitchFamily="18" charset="0"/>
                <a:cs typeface="Times New Roman" panose="02020603050405020304" pitchFamily="18" charset="0"/>
              </a:rPr>
              <a:t>has proven to be faster when compared with Ridge Regression</a:t>
            </a:r>
            <a:r>
              <a:rPr lang="en-US" altLang="en-IN" sz="2189" b="1" dirty="0">
                <a:latin typeface="Times New Roman" panose="02020603050405020304" pitchFamily="18" charset="0"/>
                <a:cs typeface="Times New Roman" panose="02020603050405020304" pitchFamily="18" charset="0"/>
              </a:rPr>
              <a:t>.</a:t>
            </a:r>
            <a:endParaRPr 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351155" y="23588920"/>
            <a:ext cx="20896398" cy="4808752"/>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To analyze the Random Forest Regression and Ridge Regression methods, this data is used. Both of the necessary techniques, Random Forest Regression and Ridge Regression were subjected to statistical data analysis. Using group and accuracy data, machine learning algorithms are used to predict the accuracy of wine quality. These 10 data samples are used to create comparison statistics values for each algorithm they correspond to.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Overall , the accuracy of the Random Forest Regression is 95.55 % and that of the Ridge Regression  (RR) is 91.38 %. From the work , it is concluded that the Random Forest Regression attains the high accuracy when comparing with Ridge in Wine Quality Prediction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results of this study provide enough information to use machine learning algorithms to pinpoint the precise impacts of effectively predicting the quality of wine.</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48719" y="28736974"/>
            <a:ext cx="21040630" cy="3798091"/>
          </a:xfrm>
          <a:prstGeom prst="rect">
            <a:avLst/>
          </a:prstGeom>
          <a:noFill/>
        </p:spPr>
        <p:txBody>
          <a:bodyPr wrap="square" rtlCol="0">
            <a:spAutoFit/>
          </a:bodyPr>
          <a:lstStyle/>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et al.,2022 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Piyush Bhardwaj, Parul Tiwari, Kenneth </a:t>
            </a:r>
            <a:r>
              <a:rPr lang="en-IN" sz="2189" b="1" dirty="0" err="1">
                <a:latin typeface="Times New Roman" panose="02020603050405020304" pitchFamily="18" charset="0"/>
                <a:cs typeface="Times New Roman" panose="02020603050405020304" pitchFamily="18" charset="0"/>
              </a:rPr>
              <a:t>Olejar</a:t>
            </a:r>
            <a:r>
              <a:rPr lang="en-IN" sz="2189" b="1" dirty="0">
                <a:latin typeface="Times New Roman" panose="02020603050405020304" pitchFamily="18" charset="0"/>
                <a:cs typeface="Times New Roman" panose="02020603050405020304" pitchFamily="18" charset="0"/>
              </a:rPr>
              <a:t> Jr, Wendy Parr  “ A Machine Learning application in wine quality prediction .” Machine Learning with Applications , Volume 8.</a:t>
            </a:r>
          </a:p>
          <a:p>
            <a:pPr algn="just"/>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Chen, C.M. Liang, C.C. and Chu, C.P. (2020) Long-Term Travel Time Prediction Using Ridge. Journal of Intelligent Transportation Systems, 24, 109-124.</a:t>
            </a:r>
          </a:p>
          <a:p>
            <a:pPr marL="341254" indent="-341254" algn="just">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Astray et al., 2019 .”Prediction models to control aging time in red wine” .Molecules, 24 (5) .</a:t>
            </a:r>
          </a:p>
          <a:p>
            <a:pPr marL="341254" indent="-341254" algn="just">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Baird et al., 2018 . Baird T., Hall C., </a:t>
            </a:r>
            <a:r>
              <a:rPr lang="en-US" sz="2189" b="1" dirty="0" err="1">
                <a:latin typeface="Times New Roman" panose="02020603050405020304" pitchFamily="18" charset="0"/>
                <a:cs typeface="Times New Roman" panose="02020603050405020304" pitchFamily="18" charset="0"/>
              </a:rPr>
              <a:t>Castka</a:t>
            </a:r>
            <a:r>
              <a:rPr lang="en-US" sz="2189" b="1" dirty="0">
                <a:latin typeface="Times New Roman" panose="02020603050405020304" pitchFamily="18" charset="0"/>
                <a:cs typeface="Times New Roman" panose="02020603050405020304" pitchFamily="18" charset="0"/>
              </a:rPr>
              <a:t> P. “New Zealand winegrowers attitudes and Behaviors toward wine tourism and sustainable winegrowing.” Sustainability, 10 (3) (2018), p. 797.</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Basvaraj</a:t>
            </a:r>
            <a:r>
              <a:rPr lang="en-US" sz="2189" b="1" dirty="0">
                <a:latin typeface="Times New Roman" panose="02020603050405020304" pitchFamily="18" charset="0"/>
                <a:cs typeface="Times New Roman" panose="02020603050405020304" pitchFamily="18" charset="0"/>
              </a:rPr>
              <a:t>. S. </a:t>
            </a:r>
            <a:r>
              <a:rPr lang="en-US" sz="2189" b="1" dirty="0" err="1">
                <a:latin typeface="Times New Roman" panose="02020603050405020304" pitchFamily="18" charset="0"/>
                <a:cs typeface="Times New Roman" panose="02020603050405020304" pitchFamily="18" charset="0"/>
              </a:rPr>
              <a:t>Anami</a:t>
            </a:r>
            <a:r>
              <a:rPr lang="en-US" sz="2189" b="1" dirty="0">
                <a:latin typeface="Times New Roman" panose="02020603050405020304" pitchFamily="18" charset="0"/>
                <a:cs typeface="Times New Roman" panose="02020603050405020304" pitchFamily="18" charset="0"/>
              </a:rPr>
              <a:t> (2022)“A Machine Learning Based Approach for Wine Quality Prediction.”</a:t>
            </a: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23722" y="21386883"/>
            <a:ext cx="21040630" cy="110299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In the present work, Random Forest Regression (RF) is compared with Ridge Regression (RR) , it depicts that the Random Forest Regression gives more accuracy when compared with the Ridge Regression .</a:t>
            </a:r>
          </a:p>
          <a:p>
            <a:endParaRPr lang="en-US" sz="2189" b="1" dirty="0">
              <a:latin typeface="Times New Roman" panose="02020603050405020304" pitchFamily="18" charset="0"/>
              <a:cs typeface="Times New Roman" panose="02020603050405020304" pitchFamily="18" charset="0"/>
            </a:endParaRPr>
          </a:p>
        </p:txBody>
      </p:sp>
      <p:sp>
        <p:nvSpPr>
          <p:cNvPr id="41" name="Text Box 40"/>
          <p:cNvSpPr txBox="1"/>
          <p:nvPr/>
        </p:nvSpPr>
        <p:spPr>
          <a:xfrm>
            <a:off x="1993833" y="14815148"/>
            <a:ext cx="1716236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a:t>
            </a:r>
          </a:p>
        </p:txBody>
      </p:sp>
      <p:sp>
        <p:nvSpPr>
          <p:cNvPr id="42" name="Text Box 41"/>
          <p:cNvSpPr txBox="1"/>
          <p:nvPr/>
        </p:nvSpPr>
        <p:spPr>
          <a:xfrm>
            <a:off x="16060981" y="8350582"/>
            <a:ext cx="4860656" cy="766107"/>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 based on the Chemicals present</a:t>
            </a:r>
          </a:p>
        </p:txBody>
      </p:sp>
      <p:sp>
        <p:nvSpPr>
          <p:cNvPr id="27" name="Rectangles 26"/>
          <p:cNvSpPr/>
          <p:nvPr/>
        </p:nvSpPr>
        <p:spPr>
          <a:xfrm>
            <a:off x="4688686" y="12883918"/>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Importing Libraries</a:t>
            </a:r>
          </a:p>
        </p:txBody>
      </p:sp>
      <p:sp>
        <p:nvSpPr>
          <p:cNvPr id="28" name="Rectangles 27"/>
          <p:cNvSpPr/>
          <p:nvPr/>
        </p:nvSpPr>
        <p:spPr>
          <a:xfrm>
            <a:off x="8029932" y="1288835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Feature and Target Separation</a:t>
            </a:r>
          </a:p>
        </p:txBody>
      </p:sp>
      <p:cxnSp>
        <p:nvCxnSpPr>
          <p:cNvPr id="40" name="Straight Arrow Connector 39"/>
          <p:cNvCxnSpPr>
            <a:cxnSpLocks/>
            <a:stCxn id="27" idx="3"/>
            <a:endCxn id="28" idx="1"/>
          </p:cNvCxnSpPr>
          <p:nvPr/>
        </p:nvCxnSpPr>
        <p:spPr>
          <a:xfrm>
            <a:off x="7208686" y="13603918"/>
            <a:ext cx="821246" cy="443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49" name="Rectangle 48"/>
          <p:cNvSpPr/>
          <p:nvPr/>
        </p:nvSpPr>
        <p:spPr>
          <a:xfrm>
            <a:off x="-12911" y="-50532"/>
            <a:ext cx="21625345"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Ms. Kaviyashree J</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192121003</a:t>
            </a:r>
          </a:p>
          <a:p>
            <a:pPr algn="r"/>
            <a:r>
              <a:rPr lang="en-US" sz="2189" b="1" dirty="0">
                <a:solidFill>
                  <a:schemeClr val="bg1"/>
                </a:solidFill>
                <a:latin typeface="Times New Roman" panose="02020603050405020304" pitchFamily="18" charset="0"/>
                <a:cs typeface="Times New Roman" panose="02020603050405020304" pitchFamily="18" charset="0"/>
              </a:rPr>
              <a:t>Guided by Dr. M Ramkumar </a:t>
            </a:r>
          </a:p>
        </p:txBody>
      </p:sp>
      <p:pic>
        <p:nvPicPr>
          <p:cNvPr id="18" name="Picture 17">
            <a:extLst>
              <a:ext uri="{FF2B5EF4-FFF2-40B4-BE49-F238E27FC236}">
                <a16:creationId xmlns:a16="http://schemas.microsoft.com/office/drawing/2014/main" id="{655FF83D-26CB-363B-C518-CB29CFFE531B}"/>
              </a:ext>
            </a:extLst>
          </p:cNvPr>
          <p:cNvPicPr>
            <a:picLocks noChangeAspect="1"/>
          </p:cNvPicPr>
          <p:nvPr/>
        </p:nvPicPr>
        <p:blipFill rotWithShape="1">
          <a:blip r:embed="rId3"/>
          <a:srcRect l="10296" r="19277"/>
          <a:stretch/>
        </p:blipFill>
        <p:spPr>
          <a:xfrm>
            <a:off x="16336190" y="4940759"/>
            <a:ext cx="4310238" cy="3213073"/>
          </a:xfrm>
          <a:prstGeom prst="rect">
            <a:avLst/>
          </a:prstGeom>
        </p:spPr>
      </p:pic>
      <p:sp>
        <p:nvSpPr>
          <p:cNvPr id="51" name="Text Box 40">
            <a:extLst>
              <a:ext uri="{FF2B5EF4-FFF2-40B4-BE49-F238E27FC236}">
                <a16:creationId xmlns:a16="http://schemas.microsoft.com/office/drawing/2014/main" id="{C2B0C410-1AD5-DE08-A58B-C5575352C880}"/>
              </a:ext>
            </a:extLst>
          </p:cNvPr>
          <p:cNvSpPr txBox="1"/>
          <p:nvPr/>
        </p:nvSpPr>
        <p:spPr>
          <a:xfrm>
            <a:off x="6774407" y="20506814"/>
            <a:ext cx="836701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Ridge Regression and Random Forest Regression                                                 </a:t>
            </a:r>
          </a:p>
        </p:txBody>
      </p:sp>
      <p:sp>
        <p:nvSpPr>
          <p:cNvPr id="9" name="Rectangles 27">
            <a:extLst>
              <a:ext uri="{FF2B5EF4-FFF2-40B4-BE49-F238E27FC236}">
                <a16:creationId xmlns:a16="http://schemas.microsoft.com/office/drawing/2014/main" id="{C5BE40F8-5002-14A8-717B-C19515F2FE80}"/>
              </a:ext>
            </a:extLst>
          </p:cNvPr>
          <p:cNvSpPr/>
          <p:nvPr/>
        </p:nvSpPr>
        <p:spPr>
          <a:xfrm>
            <a:off x="11371178" y="12884009"/>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Split the Data to Train and Test</a:t>
            </a:r>
          </a:p>
        </p:txBody>
      </p:sp>
      <p:cxnSp>
        <p:nvCxnSpPr>
          <p:cNvPr id="14" name="Straight Arrow Connector 13">
            <a:extLst>
              <a:ext uri="{FF2B5EF4-FFF2-40B4-BE49-F238E27FC236}">
                <a16:creationId xmlns:a16="http://schemas.microsoft.com/office/drawing/2014/main" id="{04D6D37D-3536-375C-8E95-1558C7010627}"/>
              </a:ext>
            </a:extLst>
          </p:cNvPr>
          <p:cNvCxnSpPr>
            <a:cxnSpLocks/>
          </p:cNvCxnSpPr>
          <p:nvPr/>
        </p:nvCxnSpPr>
        <p:spPr>
          <a:xfrm>
            <a:off x="13891178" y="13580191"/>
            <a:ext cx="821246" cy="1739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F01DA78-528D-596F-4EA9-8DCED8188542}"/>
              </a:ext>
            </a:extLst>
          </p:cNvPr>
          <p:cNvCxnSpPr>
            <a:cxnSpLocks/>
            <a:endCxn id="9" idx="1"/>
          </p:cNvCxnSpPr>
          <p:nvPr/>
        </p:nvCxnSpPr>
        <p:spPr>
          <a:xfrm flipV="1">
            <a:off x="10544654" y="13604009"/>
            <a:ext cx="826524" cy="2504"/>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30" name="Rectangles 26">
            <a:extLst>
              <a:ext uri="{FF2B5EF4-FFF2-40B4-BE49-F238E27FC236}">
                <a16:creationId xmlns:a16="http://schemas.microsoft.com/office/drawing/2014/main" id="{74B83178-CE34-5DA9-FFEA-2EE42DF9CF9D}"/>
              </a:ext>
            </a:extLst>
          </p:cNvPr>
          <p:cNvSpPr/>
          <p:nvPr/>
        </p:nvSpPr>
        <p:spPr>
          <a:xfrm>
            <a:off x="14712424" y="12877586"/>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Train the Model using Algorithm</a:t>
            </a:r>
          </a:p>
        </p:txBody>
      </p:sp>
      <p:sp>
        <p:nvSpPr>
          <p:cNvPr id="31" name="Rectangles 27">
            <a:extLst>
              <a:ext uri="{FF2B5EF4-FFF2-40B4-BE49-F238E27FC236}">
                <a16:creationId xmlns:a16="http://schemas.microsoft.com/office/drawing/2014/main" id="{28E253BD-46E5-8C77-FA91-037535A4CE24}"/>
              </a:ext>
            </a:extLst>
          </p:cNvPr>
          <p:cNvSpPr/>
          <p:nvPr/>
        </p:nvSpPr>
        <p:spPr>
          <a:xfrm>
            <a:off x="18053670" y="12875027"/>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Test the Prediction to get Accuracy</a:t>
            </a:r>
          </a:p>
        </p:txBody>
      </p:sp>
      <p:cxnSp>
        <p:nvCxnSpPr>
          <p:cNvPr id="36" name="Straight Arrow Connector 35">
            <a:extLst>
              <a:ext uri="{FF2B5EF4-FFF2-40B4-BE49-F238E27FC236}">
                <a16:creationId xmlns:a16="http://schemas.microsoft.com/office/drawing/2014/main" id="{64CA4139-3B2A-18A1-F07E-C750760D9446}"/>
              </a:ext>
            </a:extLst>
          </p:cNvPr>
          <p:cNvCxnSpPr>
            <a:cxnSpLocks/>
            <a:stCxn id="30" idx="3"/>
          </p:cNvCxnSpPr>
          <p:nvPr/>
        </p:nvCxnSpPr>
        <p:spPr>
          <a:xfrm>
            <a:off x="17232424" y="13597586"/>
            <a:ext cx="821246"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BCF6EE7A-733F-FC61-BCA5-052C7089374E}"/>
              </a:ext>
            </a:extLst>
          </p:cNvPr>
          <p:cNvCxnSpPr>
            <a:cxnSpLocks/>
            <a:endCxn id="27" idx="1"/>
          </p:cNvCxnSpPr>
          <p:nvPr/>
        </p:nvCxnSpPr>
        <p:spPr>
          <a:xfrm>
            <a:off x="3873173" y="13591317"/>
            <a:ext cx="815513" cy="12601"/>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2" name="Rectangles 27">
            <a:extLst>
              <a:ext uri="{FF2B5EF4-FFF2-40B4-BE49-F238E27FC236}">
                <a16:creationId xmlns:a16="http://schemas.microsoft.com/office/drawing/2014/main" id="{064CAB74-A794-21F2-F6C1-03FBA035A592}"/>
              </a:ext>
            </a:extLst>
          </p:cNvPr>
          <p:cNvSpPr/>
          <p:nvPr/>
        </p:nvSpPr>
        <p:spPr>
          <a:xfrm>
            <a:off x="1347440" y="1288962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Required Data Set Collection</a:t>
            </a:r>
          </a:p>
        </p:txBody>
      </p:sp>
      <p:sp>
        <p:nvSpPr>
          <p:cNvPr id="1041" name="Rectangles 26">
            <a:extLst>
              <a:ext uri="{FF2B5EF4-FFF2-40B4-BE49-F238E27FC236}">
                <a16:creationId xmlns:a16="http://schemas.microsoft.com/office/drawing/2014/main" id="{711AFBC8-F591-89C2-6538-B1AE682C6641}"/>
              </a:ext>
            </a:extLst>
          </p:cNvPr>
          <p:cNvSpPr/>
          <p:nvPr/>
        </p:nvSpPr>
        <p:spPr>
          <a:xfrm>
            <a:off x="11371178"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80 % of the Data is used to Train and 20 % of Data is used to Test</a:t>
            </a:r>
          </a:p>
        </p:txBody>
      </p:sp>
      <p:sp>
        <p:nvSpPr>
          <p:cNvPr id="1044" name="Rectangles 26">
            <a:extLst>
              <a:ext uri="{FF2B5EF4-FFF2-40B4-BE49-F238E27FC236}">
                <a16:creationId xmlns:a16="http://schemas.microsoft.com/office/drawing/2014/main" id="{82B5359C-8309-4685-9612-4514E9FE781E}"/>
              </a:ext>
            </a:extLst>
          </p:cNvPr>
          <p:cNvSpPr/>
          <p:nvPr/>
        </p:nvSpPr>
        <p:spPr>
          <a:xfrm>
            <a:off x="14712424" y="10775489"/>
            <a:ext cx="2859296"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Random Forest Regression and </a:t>
            </a:r>
            <a:r>
              <a:rPr lang="en-US" altLang="en-IN" sz="2189" b="1" dirty="0">
                <a:latin typeface="Times New Roman" panose="02020603050405020304" pitchFamily="18" charset="0"/>
                <a:cs typeface="Times New Roman" panose="02020603050405020304" pitchFamily="18" charset="0"/>
              </a:rPr>
              <a:t>Ridge</a:t>
            </a:r>
            <a:r>
              <a:rPr lang="en-IN" altLang="en-US" sz="2189" b="1" dirty="0">
                <a:latin typeface="Times New Roman" panose="02020603050405020304" pitchFamily="18" charset="0"/>
                <a:cs typeface="Times New Roman" panose="02020603050405020304" pitchFamily="18" charset="0"/>
              </a:rPr>
              <a:t> Regression</a:t>
            </a:r>
          </a:p>
        </p:txBody>
      </p:sp>
      <p:cxnSp>
        <p:nvCxnSpPr>
          <p:cNvPr id="1045" name="Straight Arrow Connector 1044">
            <a:extLst>
              <a:ext uri="{FF2B5EF4-FFF2-40B4-BE49-F238E27FC236}">
                <a16:creationId xmlns:a16="http://schemas.microsoft.com/office/drawing/2014/main" id="{5B1B3C2D-EDA5-B693-2EC1-E02A5F9D36E2}"/>
              </a:ext>
            </a:extLst>
          </p:cNvPr>
          <p:cNvCxnSpPr>
            <a:cxnSpLocks/>
          </p:cNvCxnSpPr>
          <p:nvPr/>
        </p:nvCxnSpPr>
        <p:spPr>
          <a:xfrm>
            <a:off x="12631178"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047" name="Straight Arrow Connector 1046">
            <a:extLst>
              <a:ext uri="{FF2B5EF4-FFF2-40B4-BE49-F238E27FC236}">
                <a16:creationId xmlns:a16="http://schemas.microsoft.com/office/drawing/2014/main" id="{B3050C41-AA02-5ED2-D82F-7894D133A392}"/>
              </a:ext>
            </a:extLst>
          </p:cNvPr>
          <p:cNvCxnSpPr>
            <a:cxnSpLocks/>
          </p:cNvCxnSpPr>
          <p:nvPr/>
        </p:nvCxnSpPr>
        <p:spPr>
          <a:xfrm>
            <a:off x="15972424"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pic>
        <p:nvPicPr>
          <p:cNvPr id="1051" name="Picture 1050">
            <a:extLst>
              <a:ext uri="{FF2B5EF4-FFF2-40B4-BE49-F238E27FC236}">
                <a16:creationId xmlns:a16="http://schemas.microsoft.com/office/drawing/2014/main" id="{6567A98E-2DEF-0DA6-2E76-D36C0A11D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92142" y="16694692"/>
            <a:ext cx="5852172" cy="4389129"/>
          </a:xfrm>
          <a:prstGeom prst="rect">
            <a:avLst/>
          </a:prstGeom>
        </p:spPr>
      </p:pic>
      <p:pic>
        <p:nvPicPr>
          <p:cNvPr id="33" name="Picture 6">
            <a:extLst>
              <a:ext uri="{FF2B5EF4-FFF2-40B4-BE49-F238E27FC236}">
                <a16:creationId xmlns:a16="http://schemas.microsoft.com/office/drawing/2014/main" id="{D3533D12-F31E-1508-76F8-19352B3EBF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9772" y="16218605"/>
            <a:ext cx="7033523" cy="413670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CD785137-C8C0-9B40-34E4-F9285D6939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211" y="16684212"/>
            <a:ext cx="5852172" cy="43891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193</TotalTime>
  <Words>624</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Kaviyashree J</cp:lastModifiedBy>
  <cp:revision>72</cp:revision>
  <dcterms:created xsi:type="dcterms:W3CDTF">2023-04-19T08:35:00Z</dcterms:created>
  <dcterms:modified xsi:type="dcterms:W3CDTF">2024-04-04T17:24:30Z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