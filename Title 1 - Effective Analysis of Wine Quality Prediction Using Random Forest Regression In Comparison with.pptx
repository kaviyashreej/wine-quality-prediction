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134" autoAdjust="0"/>
    <p:restoredTop sz="94660"/>
  </p:normalViewPr>
  <p:slideViewPr>
    <p:cSldViewPr snapToGrid="0">
      <p:cViewPr>
        <p:scale>
          <a:sx n="25" d="100"/>
          <a:sy n="25" d="100"/>
        </p:scale>
        <p:origin x="2731" y="-1378"/>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04-04-2024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04-04-2024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04-04-2024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04-04-2024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911" y="3974123"/>
            <a:ext cx="21625346"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5" name="Rectangle 4"/>
          <p:cNvSpPr/>
          <p:nvPr/>
        </p:nvSpPr>
        <p:spPr>
          <a:xfrm>
            <a:off x="0" y="9966289"/>
            <a:ext cx="21599525" cy="5796133"/>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dirty="0"/>
          </a:p>
        </p:txBody>
      </p:sp>
      <p:sp>
        <p:nvSpPr>
          <p:cNvPr id="6" name="Rectangle 5"/>
          <p:cNvSpPr/>
          <p:nvPr/>
        </p:nvSpPr>
        <p:spPr>
          <a:xfrm>
            <a:off x="-12911" y="15729892"/>
            <a:ext cx="21612436" cy="6680802"/>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12911" y="22410996"/>
            <a:ext cx="21612436"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12911" y="27752473"/>
            <a:ext cx="21670008" cy="5007177"/>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1892530" y="4378180"/>
            <a:ext cx="425842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0" y="2522585"/>
            <a:ext cx="2159952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1892530" y="15979142"/>
            <a:ext cx="2454868"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892530" y="22803200"/>
            <a:ext cx="7716271"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893707" y="28080740"/>
            <a:ext cx="3947465"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48719" y="2554293"/>
            <a:ext cx="20898834" cy="1194540"/>
          </a:xfrm>
          <a:prstGeom prst="rect">
            <a:avLst/>
          </a:prstGeom>
          <a:noFill/>
        </p:spPr>
        <p:txBody>
          <a:bodyPr wrap="square" rtlCol="0">
            <a:spAutoFit/>
          </a:bodyPr>
          <a:lstStyle/>
          <a:p>
            <a:pPr algn="ctr"/>
            <a:r>
              <a:rPr lang="en-US" sz="3583" b="1" dirty="0">
                <a:latin typeface="Times New Roman" panose="02020603050405020304" pitchFamily="18" charset="0"/>
                <a:cs typeface="Times New Roman" panose="02020603050405020304" pitchFamily="18" charset="0"/>
              </a:rPr>
              <a:t>Effective Analysis of Wine Quality Prediction Using Random Forest Regression In Comparison with </a:t>
            </a:r>
          </a:p>
          <a:p>
            <a:pPr algn="ctr"/>
            <a:r>
              <a:rPr lang="en-US" sz="3583" b="1" dirty="0">
                <a:latin typeface="Times New Roman" panose="02020603050405020304" pitchFamily="18" charset="0"/>
                <a:cs typeface="Times New Roman" panose="02020603050405020304" pitchFamily="18" charset="0"/>
              </a:rPr>
              <a:t>Gradient Boosting Regression</a:t>
            </a:r>
          </a:p>
        </p:txBody>
      </p:sp>
      <p:sp>
        <p:nvSpPr>
          <p:cNvPr id="20" name="Rectangle 19"/>
          <p:cNvSpPr/>
          <p:nvPr/>
        </p:nvSpPr>
        <p:spPr>
          <a:xfrm>
            <a:off x="1892530" y="10263441"/>
            <a:ext cx="6770960"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1246095" y="4729533"/>
            <a:ext cx="14171371" cy="4808752"/>
          </a:xfrm>
          <a:prstGeom prst="rect">
            <a:avLst/>
          </a:prstGeom>
          <a:noFill/>
        </p:spPr>
        <p:txBody>
          <a:bodyPr wrap="square" rtlCol="0">
            <a:spAutoFit/>
          </a:bodyPr>
          <a:lstStyle/>
          <a:p>
            <a:r>
              <a:rPr lang="en-IN" sz="2189" b="1" dirty="0">
                <a:latin typeface="Times New Roman" panose="02020603050405020304" pitchFamily="18" charset="0"/>
                <a:cs typeface="Times New Roman" panose="02020603050405020304" pitchFamily="18" charset="0"/>
              </a:rPr>
              <a:t> </a:t>
            </a: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sym typeface="+mn-ea"/>
              </a:rPr>
              <a:t>Wine Quality Prediction refers to the analysis of the quality of wine based on heap of factors including grape assortment , climate conditions, maturation strategies and mature forms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sym typeface="+mn-ea"/>
              </a:rPr>
              <a:t>The aim of this study is to give high accuracy in predicting the quality of wine using the different chemical compositions present in the wine as parameters  .</a:t>
            </a:r>
          </a:p>
          <a:p>
            <a:pPr algn="just"/>
            <a:r>
              <a:rPr lang="en-US" altLang="en-IN" sz="2189" b="1" dirty="0">
                <a:latin typeface="Times New Roman" panose="02020603050405020304" pitchFamily="18" charset="0"/>
                <a:cs typeface="Times New Roman" panose="02020603050405020304" pitchFamily="18" charset="0"/>
                <a:sym typeface="+mn-ea"/>
              </a:rPr>
              <a:t> </a:t>
            </a: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By comparing the execution of Random Forest Regression with that of Gradient Boosting Regression, we point to supply nuanced experiences that can direct specialists and analysts in optimizing prescient modeling techniques for wine quality appraisal.</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altLang="en-IN" sz="2189" b="1" dirty="0">
                <a:latin typeface="Times New Roman" panose="02020603050405020304" pitchFamily="18" charset="0"/>
                <a:cs typeface="Times New Roman" panose="02020603050405020304" pitchFamily="18" charset="0"/>
              </a:rPr>
              <a:t>Gradient Boosting Regression </a:t>
            </a:r>
            <a:r>
              <a:rPr lang="en-IN" sz="2189" b="1" dirty="0">
                <a:latin typeface="Times New Roman" panose="02020603050405020304" pitchFamily="18" charset="0"/>
                <a:cs typeface="Times New Roman" panose="02020603050405020304" pitchFamily="18" charset="0"/>
              </a:rPr>
              <a:t>has proven to be faster when compared with Random Forest Regression</a:t>
            </a:r>
            <a:r>
              <a:rPr lang="en-US" altLang="en-IN" sz="2189" b="1" dirty="0">
                <a:latin typeface="Times New Roman" panose="02020603050405020304" pitchFamily="18" charset="0"/>
                <a:cs typeface="Times New Roman" panose="02020603050405020304" pitchFamily="18" charset="0"/>
              </a:rPr>
              <a:t>.</a:t>
            </a:r>
            <a:endParaRPr 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351155" y="23588920"/>
            <a:ext cx="20896398" cy="4808752"/>
          </a:xfrm>
          <a:prstGeom prst="rect">
            <a:avLst/>
          </a:prstGeom>
          <a:noFill/>
        </p:spPr>
        <p:txBody>
          <a:bodyPr wrap="square" rtlCol="0">
            <a:spAutoFit/>
          </a:bodyPr>
          <a:lstStyle/>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To analyze the Random Forest Regression and Gradient Boosting Regression methods, this data is used. Both of the necessary techniques, Random Forest Regression and Gradient Boosting Regression were subjected to statistical data analysis. Using group and accuracy data, machine learning algorithms are used to predict the accuracy of wine quality. These 10 data samples are used to create comparison statistics values for each algorithm they correspond to.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Based on  T-test Statistical analysis, the significance value of  p=0.001 (independent sample T - test p&lt;0.05) is obtained and shows that there is a statistical significant difference between the group 1 and group 2.</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Overall , the accuracy of the Random Forest Regression is 95.55 % and that of the Gradient Boosting Regression  (GBR) is 96.38 %. From the work , it is concluded that the Random Forest Regression attains the high accuracy when comparing with other Machine Learning Algorithms in Wine Quality Prediction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The results of this study provide enough information to use machine learning algorithms to pinpoint the precise impacts of effectively predicting the quality of wine.</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323722" y="29032137"/>
            <a:ext cx="21139308" cy="3461204"/>
          </a:xfrm>
          <a:prstGeom prst="rect">
            <a:avLst/>
          </a:prstGeom>
          <a:noFill/>
        </p:spPr>
        <p:txBody>
          <a:bodyPr wrap="square" rtlCol="0">
            <a:spAutoFit/>
          </a:bodyPr>
          <a:lstStyle/>
          <a:p>
            <a:pPr marL="341254" indent="-341254" algn="just">
              <a:buFont typeface="Wingdings" panose="05000000000000000000" pitchFamily="2" charset="2"/>
              <a:buChar char="Ø"/>
            </a:pPr>
            <a:r>
              <a:rPr lang="en-IN" sz="2189" b="1" dirty="0">
                <a:latin typeface="Times New Roman" panose="02020603050405020304" pitchFamily="18" charset="0"/>
                <a:cs typeface="Times New Roman" panose="02020603050405020304" pitchFamily="18" charset="0"/>
              </a:rPr>
              <a:t>K. R. </a:t>
            </a:r>
            <a:r>
              <a:rPr lang="en-IN" sz="2189" b="1" dirty="0" err="1">
                <a:latin typeface="Times New Roman" panose="02020603050405020304" pitchFamily="18" charset="0"/>
                <a:cs typeface="Times New Roman" panose="02020603050405020304" pitchFamily="18" charset="0"/>
              </a:rPr>
              <a:t>Dahal</a:t>
            </a:r>
            <a:r>
              <a:rPr lang="en-IN" sz="2189" b="1" dirty="0">
                <a:latin typeface="Times New Roman" panose="02020603050405020304" pitchFamily="18" charset="0"/>
                <a:cs typeface="Times New Roman" panose="02020603050405020304" pitchFamily="18" charset="0"/>
              </a:rPr>
              <a:t>, J. N. </a:t>
            </a:r>
            <a:r>
              <a:rPr lang="en-IN" sz="2189" b="1" dirty="0" err="1">
                <a:latin typeface="Times New Roman" panose="02020603050405020304" pitchFamily="18" charset="0"/>
                <a:cs typeface="Times New Roman" panose="02020603050405020304" pitchFamily="18" charset="0"/>
              </a:rPr>
              <a:t>Dahal</a:t>
            </a:r>
            <a:r>
              <a:rPr lang="en-IN" sz="2189" b="1" dirty="0">
                <a:latin typeface="Times New Roman" panose="02020603050405020304" pitchFamily="18" charset="0"/>
                <a:cs typeface="Times New Roman" panose="02020603050405020304" pitchFamily="18" charset="0"/>
              </a:rPr>
              <a:t>, H. </a:t>
            </a:r>
            <a:r>
              <a:rPr lang="en-IN" sz="2189" b="1" dirty="0" err="1">
                <a:latin typeface="Times New Roman" panose="02020603050405020304" pitchFamily="18" charset="0"/>
                <a:cs typeface="Times New Roman" panose="02020603050405020304" pitchFamily="18" charset="0"/>
              </a:rPr>
              <a:t>Banjade</a:t>
            </a:r>
            <a:r>
              <a:rPr lang="en-IN" sz="2189" b="1" dirty="0">
                <a:latin typeface="Times New Roman" panose="02020603050405020304" pitchFamily="18" charset="0"/>
                <a:cs typeface="Times New Roman" panose="02020603050405020304" pitchFamily="18" charset="0"/>
              </a:rPr>
              <a:t>, S. </a:t>
            </a:r>
            <a:r>
              <a:rPr lang="en-IN" sz="2189" b="1" dirty="0" err="1">
                <a:latin typeface="Times New Roman" panose="02020603050405020304" pitchFamily="18" charset="0"/>
                <a:cs typeface="Times New Roman" panose="02020603050405020304" pitchFamily="18" charset="0"/>
              </a:rPr>
              <a:t>Gaire</a:t>
            </a:r>
            <a:r>
              <a:rPr lang="en-IN" sz="2189" b="1" dirty="0">
                <a:latin typeface="Times New Roman" panose="02020603050405020304" pitchFamily="18" charset="0"/>
                <a:cs typeface="Times New Roman" panose="02020603050405020304" pitchFamily="18" charset="0"/>
              </a:rPr>
              <a:t> . April 2021. “Prediction of Wine Quality Using Machine Learning Algorithms : Open Journal of Statistics .” Vol.11 No.2.	</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89" b="1" dirty="0">
                <a:latin typeface="Times New Roman" panose="02020603050405020304" pitchFamily="18" charset="0"/>
                <a:cs typeface="Times New Roman" panose="02020603050405020304" pitchFamily="18" charset="0"/>
              </a:rPr>
              <a:t>Friedman, J.H. (2001) greedy Function Approximation: A Gradient Boosting Machine. Annals of Statistics, 29, 1189-1232.</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89" b="1" dirty="0">
                <a:latin typeface="Times New Roman" panose="02020603050405020304" pitchFamily="18" charset="0"/>
                <a:cs typeface="Times New Roman" panose="02020603050405020304" pitchFamily="18" charset="0"/>
              </a:rPr>
              <a:t>Chen, C.M. Liang, C.C. and Chu, C.P. (2020) Long-Term Travel Time Prediction Using Gradient Boosting. Journal of Intelligent Transportation Systems, 24, 109-124.</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89" b="1" dirty="0">
                <a:latin typeface="Times New Roman" panose="02020603050405020304" pitchFamily="18" charset="0"/>
                <a:cs typeface="Times New Roman" panose="02020603050405020304" pitchFamily="18" charset="0"/>
              </a:rPr>
              <a:t>Astray et al., 2019 .”Prediction models to control aging time in red wine” .Molecules, 24 (5) .</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sz="2189" b="1" dirty="0" err="1">
                <a:latin typeface="Times New Roman" panose="02020603050405020304" pitchFamily="18" charset="0"/>
                <a:cs typeface="Times New Roman" panose="02020603050405020304" pitchFamily="18" charset="0"/>
              </a:rPr>
              <a:t>Aich</a:t>
            </a:r>
            <a:r>
              <a:rPr lang="en-US" sz="2189" b="1" dirty="0">
                <a:latin typeface="Times New Roman" panose="02020603050405020304" pitchFamily="18" charset="0"/>
                <a:cs typeface="Times New Roman" panose="02020603050405020304" pitchFamily="18" charset="0"/>
              </a:rPr>
              <a:t> et al.,2018 </a:t>
            </a:r>
            <a:r>
              <a:rPr lang="en-US" sz="2189" b="1" dirty="0" err="1">
                <a:latin typeface="Times New Roman" panose="02020603050405020304" pitchFamily="18" charset="0"/>
                <a:cs typeface="Times New Roman" panose="02020603050405020304" pitchFamily="18" charset="0"/>
              </a:rPr>
              <a:t>Aich</a:t>
            </a:r>
            <a:r>
              <a:rPr lang="en-US" sz="2189" b="1" dirty="0">
                <a:latin typeface="Times New Roman" panose="02020603050405020304" pitchFamily="18" charset="0"/>
                <a:cs typeface="Times New Roman" panose="02020603050405020304" pitchFamily="18" charset="0"/>
              </a:rPr>
              <a:t> S.,</a:t>
            </a:r>
            <a:r>
              <a:rPr lang="en-US" sz="2189" b="1" dirty="0" err="1">
                <a:latin typeface="Times New Roman" panose="02020603050405020304" pitchFamily="18" charset="0"/>
                <a:cs typeface="Times New Roman" panose="02020603050405020304" pitchFamily="18" charset="0"/>
              </a:rPr>
              <a:t>Al-a</a:t>
            </a:r>
            <a:r>
              <a:rPr lang="en-US" sz="2189" b="1" dirty="0">
                <a:latin typeface="Times New Roman" panose="02020603050405020304" pitchFamily="18" charset="0"/>
                <a:cs typeface="Times New Roman" panose="02020603050405020304" pitchFamily="18" charset="0"/>
              </a:rPr>
              <a:t>bsi A.A., Hui K.L., Lee J.T., Sain M. “A Classification approach with different features sets to predict the quality of different types of wine using machine learning techniques.” International Conference on Advanced Communication Technology, ICACT, 2018-February (2018), pp. 139-143.</a:t>
            </a:r>
            <a:endParaRPr lang="en-IN" sz="2189" b="1" dirty="0">
              <a:latin typeface="Times New Roman" panose="02020603050405020304" pitchFamily="18" charset="0"/>
              <a:cs typeface="Times New Roman" panose="02020603050405020304" pitchFamily="18" charset="0"/>
            </a:endParaRPr>
          </a:p>
        </p:txBody>
      </p:sp>
      <p:sp>
        <p:nvSpPr>
          <p:cNvPr id="29" name="Text Box 28"/>
          <p:cNvSpPr txBox="1"/>
          <p:nvPr/>
        </p:nvSpPr>
        <p:spPr>
          <a:xfrm>
            <a:off x="323722" y="21386883"/>
            <a:ext cx="21040630" cy="1102994"/>
          </a:xfrm>
          <a:prstGeom prst="rect">
            <a:avLst/>
          </a:prstGeom>
          <a:noFill/>
        </p:spPr>
        <p:txBody>
          <a:bodyPr wrap="square" rtlCol="0">
            <a:spAutoFit/>
          </a:bodyPr>
          <a:lstStyle/>
          <a:p>
            <a:pPr algn="just"/>
            <a:r>
              <a:rPr lang="en-US" sz="1990" b="1" dirty="0">
                <a:latin typeface="Times New Roman" panose="02020603050405020304" pitchFamily="18" charset="0"/>
                <a:cs typeface="Times New Roman" panose="02020603050405020304" pitchFamily="18" charset="0"/>
              </a:rPr>
              <a:t> </a:t>
            </a:r>
            <a:r>
              <a:rPr lang="en-US" sz="2189" b="1" dirty="0">
                <a:latin typeface="Times New Roman" panose="02020603050405020304" pitchFamily="18" charset="0"/>
                <a:cs typeface="Times New Roman" panose="02020603050405020304" pitchFamily="18" charset="0"/>
              </a:rPr>
              <a:t>In the present work, Random Forest Regression (RF) is compared with Gradient Boosting Regression (GBR) , it depicts that the Gradient Boosting Regression gives more accuracy when compared with the Random Forest Regression .</a:t>
            </a:r>
          </a:p>
          <a:p>
            <a:endParaRPr lang="en-US" sz="2189" b="1" dirty="0">
              <a:latin typeface="Times New Roman" panose="02020603050405020304" pitchFamily="18" charset="0"/>
              <a:cs typeface="Times New Roman" panose="02020603050405020304" pitchFamily="18" charset="0"/>
            </a:endParaRPr>
          </a:p>
        </p:txBody>
      </p:sp>
      <p:sp>
        <p:nvSpPr>
          <p:cNvPr id="41" name="Text Box 40"/>
          <p:cNvSpPr txBox="1"/>
          <p:nvPr/>
        </p:nvSpPr>
        <p:spPr>
          <a:xfrm>
            <a:off x="1993833" y="14815148"/>
            <a:ext cx="17162367" cy="429220"/>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Wine Quality Prediction</a:t>
            </a:r>
          </a:p>
        </p:txBody>
      </p:sp>
      <p:sp>
        <p:nvSpPr>
          <p:cNvPr id="42" name="Text Box 41"/>
          <p:cNvSpPr txBox="1"/>
          <p:nvPr/>
        </p:nvSpPr>
        <p:spPr>
          <a:xfrm>
            <a:off x="16060981" y="8350582"/>
            <a:ext cx="4860656" cy="766107"/>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Wine Quality Prediction based on the Chemicals present</a:t>
            </a:r>
          </a:p>
        </p:txBody>
      </p:sp>
      <p:sp>
        <p:nvSpPr>
          <p:cNvPr id="27" name="Rectangles 26"/>
          <p:cNvSpPr/>
          <p:nvPr/>
        </p:nvSpPr>
        <p:spPr>
          <a:xfrm>
            <a:off x="4688686" y="12883918"/>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Importing Libraries</a:t>
            </a:r>
          </a:p>
        </p:txBody>
      </p:sp>
      <p:sp>
        <p:nvSpPr>
          <p:cNvPr id="28" name="Rectangles 27"/>
          <p:cNvSpPr/>
          <p:nvPr/>
        </p:nvSpPr>
        <p:spPr>
          <a:xfrm>
            <a:off x="8029932" y="12888354"/>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Feature and Target Separation</a:t>
            </a:r>
          </a:p>
        </p:txBody>
      </p:sp>
      <p:cxnSp>
        <p:nvCxnSpPr>
          <p:cNvPr id="40" name="Straight Arrow Connector 39"/>
          <p:cNvCxnSpPr>
            <a:cxnSpLocks/>
            <a:stCxn id="27" idx="3"/>
            <a:endCxn id="28" idx="1"/>
          </p:cNvCxnSpPr>
          <p:nvPr/>
        </p:nvCxnSpPr>
        <p:spPr>
          <a:xfrm>
            <a:off x="7208686" y="13603918"/>
            <a:ext cx="821246" cy="4436"/>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49" name="Rectangle 48"/>
          <p:cNvSpPr/>
          <p:nvPr/>
        </p:nvSpPr>
        <p:spPr>
          <a:xfrm>
            <a:off x="-12911" y="-50532"/>
            <a:ext cx="21625345"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Ms. Kaviyashree J</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192121003</a:t>
            </a:r>
          </a:p>
          <a:p>
            <a:pPr algn="r"/>
            <a:r>
              <a:rPr lang="en-US" sz="2189" b="1" dirty="0">
                <a:solidFill>
                  <a:schemeClr val="bg1"/>
                </a:solidFill>
                <a:latin typeface="Times New Roman" panose="02020603050405020304" pitchFamily="18" charset="0"/>
                <a:cs typeface="Times New Roman" panose="02020603050405020304" pitchFamily="18" charset="0"/>
              </a:rPr>
              <a:t>Guided by Dr. M Ramkumar </a:t>
            </a:r>
          </a:p>
        </p:txBody>
      </p:sp>
      <p:pic>
        <p:nvPicPr>
          <p:cNvPr id="18" name="Picture 17">
            <a:extLst>
              <a:ext uri="{FF2B5EF4-FFF2-40B4-BE49-F238E27FC236}">
                <a16:creationId xmlns:a16="http://schemas.microsoft.com/office/drawing/2014/main" id="{655FF83D-26CB-363B-C518-CB29CFFE531B}"/>
              </a:ext>
            </a:extLst>
          </p:cNvPr>
          <p:cNvPicPr>
            <a:picLocks noChangeAspect="1"/>
          </p:cNvPicPr>
          <p:nvPr/>
        </p:nvPicPr>
        <p:blipFill rotWithShape="1">
          <a:blip r:embed="rId3"/>
          <a:srcRect l="10296" r="19277"/>
          <a:stretch/>
        </p:blipFill>
        <p:spPr>
          <a:xfrm>
            <a:off x="16336190" y="4940759"/>
            <a:ext cx="4310238" cy="3213073"/>
          </a:xfrm>
          <a:prstGeom prst="rect">
            <a:avLst/>
          </a:prstGeom>
        </p:spPr>
      </p:pic>
      <p:pic>
        <p:nvPicPr>
          <p:cNvPr id="1032" name="Picture 8">
            <a:extLst>
              <a:ext uri="{FF2B5EF4-FFF2-40B4-BE49-F238E27FC236}">
                <a16:creationId xmlns:a16="http://schemas.microsoft.com/office/drawing/2014/main" id="{89D3D122-E339-01D2-4F8B-116136D701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6236" y="16219271"/>
            <a:ext cx="6602245" cy="3893631"/>
          </a:xfrm>
          <a:prstGeom prst="rect">
            <a:avLst/>
          </a:prstGeom>
          <a:noFill/>
          <a:extLst>
            <a:ext uri="{909E8E84-426E-40DD-AFC4-6F175D3DCCD1}">
              <a14:hiddenFill xmlns:a14="http://schemas.microsoft.com/office/drawing/2010/main">
                <a:solidFill>
                  <a:srgbClr val="FFFFFF"/>
                </a:solidFill>
              </a14:hiddenFill>
            </a:ext>
          </a:extLst>
        </p:spPr>
      </p:pic>
      <p:sp>
        <p:nvSpPr>
          <p:cNvPr id="51" name="Text Box 40">
            <a:extLst>
              <a:ext uri="{FF2B5EF4-FFF2-40B4-BE49-F238E27FC236}">
                <a16:creationId xmlns:a16="http://schemas.microsoft.com/office/drawing/2014/main" id="{C2B0C410-1AD5-DE08-A58B-C5575352C880}"/>
              </a:ext>
            </a:extLst>
          </p:cNvPr>
          <p:cNvSpPr txBox="1"/>
          <p:nvPr/>
        </p:nvSpPr>
        <p:spPr>
          <a:xfrm>
            <a:off x="6660528" y="20586147"/>
            <a:ext cx="8367017" cy="429220"/>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Gradient Boosting Regression and Random Forest Regression                                                 </a:t>
            </a:r>
          </a:p>
        </p:txBody>
      </p:sp>
      <p:sp>
        <p:nvSpPr>
          <p:cNvPr id="9" name="Rectangles 27">
            <a:extLst>
              <a:ext uri="{FF2B5EF4-FFF2-40B4-BE49-F238E27FC236}">
                <a16:creationId xmlns:a16="http://schemas.microsoft.com/office/drawing/2014/main" id="{C5BE40F8-5002-14A8-717B-C19515F2FE80}"/>
              </a:ext>
            </a:extLst>
          </p:cNvPr>
          <p:cNvSpPr/>
          <p:nvPr/>
        </p:nvSpPr>
        <p:spPr>
          <a:xfrm>
            <a:off x="11371178" y="12884009"/>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Split the Data to Train and Test</a:t>
            </a:r>
          </a:p>
        </p:txBody>
      </p:sp>
      <p:cxnSp>
        <p:nvCxnSpPr>
          <p:cNvPr id="14" name="Straight Arrow Connector 13">
            <a:extLst>
              <a:ext uri="{FF2B5EF4-FFF2-40B4-BE49-F238E27FC236}">
                <a16:creationId xmlns:a16="http://schemas.microsoft.com/office/drawing/2014/main" id="{04D6D37D-3536-375C-8E95-1558C7010627}"/>
              </a:ext>
            </a:extLst>
          </p:cNvPr>
          <p:cNvCxnSpPr>
            <a:cxnSpLocks/>
          </p:cNvCxnSpPr>
          <p:nvPr/>
        </p:nvCxnSpPr>
        <p:spPr>
          <a:xfrm>
            <a:off x="13891178" y="13580191"/>
            <a:ext cx="821246" cy="17395"/>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9F01DA78-528D-596F-4EA9-8DCED8188542}"/>
              </a:ext>
            </a:extLst>
          </p:cNvPr>
          <p:cNvCxnSpPr>
            <a:cxnSpLocks/>
            <a:endCxn id="9" idx="1"/>
          </p:cNvCxnSpPr>
          <p:nvPr/>
        </p:nvCxnSpPr>
        <p:spPr>
          <a:xfrm flipV="1">
            <a:off x="10544654" y="13604009"/>
            <a:ext cx="826524" cy="2504"/>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30" name="Rectangles 26">
            <a:extLst>
              <a:ext uri="{FF2B5EF4-FFF2-40B4-BE49-F238E27FC236}">
                <a16:creationId xmlns:a16="http://schemas.microsoft.com/office/drawing/2014/main" id="{74B83178-CE34-5DA9-FFEA-2EE42DF9CF9D}"/>
              </a:ext>
            </a:extLst>
          </p:cNvPr>
          <p:cNvSpPr/>
          <p:nvPr/>
        </p:nvSpPr>
        <p:spPr>
          <a:xfrm>
            <a:off x="14712424" y="12877586"/>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Train the Model using Algorithm</a:t>
            </a:r>
          </a:p>
        </p:txBody>
      </p:sp>
      <p:sp>
        <p:nvSpPr>
          <p:cNvPr id="31" name="Rectangles 27">
            <a:extLst>
              <a:ext uri="{FF2B5EF4-FFF2-40B4-BE49-F238E27FC236}">
                <a16:creationId xmlns:a16="http://schemas.microsoft.com/office/drawing/2014/main" id="{28E253BD-46E5-8C77-FA91-037535A4CE24}"/>
              </a:ext>
            </a:extLst>
          </p:cNvPr>
          <p:cNvSpPr/>
          <p:nvPr/>
        </p:nvSpPr>
        <p:spPr>
          <a:xfrm>
            <a:off x="18053670" y="12875027"/>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Test the Prediction to get Accuracy</a:t>
            </a:r>
          </a:p>
        </p:txBody>
      </p:sp>
      <p:cxnSp>
        <p:nvCxnSpPr>
          <p:cNvPr id="36" name="Straight Arrow Connector 35">
            <a:extLst>
              <a:ext uri="{FF2B5EF4-FFF2-40B4-BE49-F238E27FC236}">
                <a16:creationId xmlns:a16="http://schemas.microsoft.com/office/drawing/2014/main" id="{64CA4139-3B2A-18A1-F07E-C750760D9446}"/>
              </a:ext>
            </a:extLst>
          </p:cNvPr>
          <p:cNvCxnSpPr>
            <a:cxnSpLocks/>
            <a:stCxn id="30" idx="3"/>
          </p:cNvCxnSpPr>
          <p:nvPr/>
        </p:nvCxnSpPr>
        <p:spPr>
          <a:xfrm>
            <a:off x="17232424" y="13597586"/>
            <a:ext cx="821246" cy="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BCF6EE7A-733F-FC61-BCA5-052C7089374E}"/>
              </a:ext>
            </a:extLst>
          </p:cNvPr>
          <p:cNvCxnSpPr>
            <a:cxnSpLocks/>
            <a:endCxn id="27" idx="1"/>
          </p:cNvCxnSpPr>
          <p:nvPr/>
        </p:nvCxnSpPr>
        <p:spPr>
          <a:xfrm>
            <a:off x="3873173" y="13591317"/>
            <a:ext cx="815513" cy="12601"/>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2" name="Rectangles 27">
            <a:extLst>
              <a:ext uri="{FF2B5EF4-FFF2-40B4-BE49-F238E27FC236}">
                <a16:creationId xmlns:a16="http://schemas.microsoft.com/office/drawing/2014/main" id="{064CAB74-A794-21F2-F6C1-03FBA035A592}"/>
              </a:ext>
            </a:extLst>
          </p:cNvPr>
          <p:cNvSpPr/>
          <p:nvPr/>
        </p:nvSpPr>
        <p:spPr>
          <a:xfrm>
            <a:off x="1347440" y="12889624"/>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Required Data Set Collection</a:t>
            </a:r>
          </a:p>
        </p:txBody>
      </p:sp>
      <p:sp>
        <p:nvSpPr>
          <p:cNvPr id="1041" name="Rectangles 26">
            <a:extLst>
              <a:ext uri="{FF2B5EF4-FFF2-40B4-BE49-F238E27FC236}">
                <a16:creationId xmlns:a16="http://schemas.microsoft.com/office/drawing/2014/main" id="{711AFBC8-F591-89C2-6538-B1AE682C6641}"/>
              </a:ext>
            </a:extLst>
          </p:cNvPr>
          <p:cNvSpPr/>
          <p:nvPr/>
        </p:nvSpPr>
        <p:spPr>
          <a:xfrm>
            <a:off x="11371178" y="10775489"/>
            <a:ext cx="2520000" cy="1440000"/>
          </a:xfrm>
          <a:prstGeom prst="rect">
            <a:avLst/>
          </a:prstGeom>
          <a:noFill/>
          <a:ln w="9525" cap="flat" cmpd="sng" algn="ctr">
            <a:solidFill>
              <a:schemeClr val="dk1"/>
            </a:solidFill>
            <a:prstDash val="solid"/>
            <a:round/>
            <a:headEnd type="none" w="med" len="med"/>
            <a:tailEnd type="none" w="med" len="med"/>
          </a:ln>
          <a:effectLst/>
        </p:spPr>
        <p:style>
          <a:lnRef idx="0">
            <a:scrgbClr r="0" g="0" b="0"/>
          </a:lnRef>
          <a:fillRef idx="0">
            <a:scrgbClr r="0" g="0" b="0"/>
          </a:fillRef>
          <a:effectRef idx="0">
            <a:scrgbClr r="0" g="0" b="0"/>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80 % of the Data is used to Train and 20 % of Data is used to Test</a:t>
            </a:r>
          </a:p>
        </p:txBody>
      </p:sp>
      <p:sp>
        <p:nvSpPr>
          <p:cNvPr id="1044" name="Rectangles 26">
            <a:extLst>
              <a:ext uri="{FF2B5EF4-FFF2-40B4-BE49-F238E27FC236}">
                <a16:creationId xmlns:a16="http://schemas.microsoft.com/office/drawing/2014/main" id="{82B5359C-8309-4685-9612-4514E9FE781E}"/>
              </a:ext>
            </a:extLst>
          </p:cNvPr>
          <p:cNvSpPr/>
          <p:nvPr/>
        </p:nvSpPr>
        <p:spPr>
          <a:xfrm>
            <a:off x="14712424" y="10775489"/>
            <a:ext cx="2520000" cy="1440000"/>
          </a:xfrm>
          <a:prstGeom prst="rect">
            <a:avLst/>
          </a:prstGeom>
          <a:noFill/>
          <a:ln w="9525" cap="flat" cmpd="sng" algn="ctr">
            <a:solidFill>
              <a:schemeClr val="dk1"/>
            </a:solidFill>
            <a:prstDash val="solid"/>
            <a:round/>
            <a:headEnd type="none" w="med" len="med"/>
            <a:tailEnd type="none" w="med" len="med"/>
          </a:ln>
          <a:effectLst/>
        </p:spPr>
        <p:style>
          <a:lnRef idx="0">
            <a:scrgbClr r="0" g="0" b="0"/>
          </a:lnRef>
          <a:fillRef idx="0">
            <a:scrgbClr r="0" g="0" b="0"/>
          </a:fillRef>
          <a:effectRef idx="0">
            <a:scrgbClr r="0" g="0" b="0"/>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Random Forest Regression and Gradient Boosting Regression</a:t>
            </a:r>
          </a:p>
        </p:txBody>
      </p:sp>
      <p:cxnSp>
        <p:nvCxnSpPr>
          <p:cNvPr id="1045" name="Straight Arrow Connector 1044">
            <a:extLst>
              <a:ext uri="{FF2B5EF4-FFF2-40B4-BE49-F238E27FC236}">
                <a16:creationId xmlns:a16="http://schemas.microsoft.com/office/drawing/2014/main" id="{5B1B3C2D-EDA5-B693-2EC1-E02A5F9D36E2}"/>
              </a:ext>
            </a:extLst>
          </p:cNvPr>
          <p:cNvCxnSpPr>
            <a:cxnSpLocks/>
          </p:cNvCxnSpPr>
          <p:nvPr/>
        </p:nvCxnSpPr>
        <p:spPr>
          <a:xfrm>
            <a:off x="12631178" y="12215489"/>
            <a:ext cx="0" cy="641378"/>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1047" name="Straight Arrow Connector 1046">
            <a:extLst>
              <a:ext uri="{FF2B5EF4-FFF2-40B4-BE49-F238E27FC236}">
                <a16:creationId xmlns:a16="http://schemas.microsoft.com/office/drawing/2014/main" id="{B3050C41-AA02-5ED2-D82F-7894D133A392}"/>
              </a:ext>
            </a:extLst>
          </p:cNvPr>
          <p:cNvCxnSpPr>
            <a:cxnSpLocks/>
          </p:cNvCxnSpPr>
          <p:nvPr/>
        </p:nvCxnSpPr>
        <p:spPr>
          <a:xfrm>
            <a:off x="15972424" y="12215489"/>
            <a:ext cx="0" cy="641378"/>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pic>
        <p:nvPicPr>
          <p:cNvPr id="1049" name="Picture 1048">
            <a:extLst>
              <a:ext uri="{FF2B5EF4-FFF2-40B4-BE49-F238E27FC236}">
                <a16:creationId xmlns:a16="http://schemas.microsoft.com/office/drawing/2014/main" id="{3912BBF1-CB41-B373-8057-419F869342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9055" y="16691159"/>
            <a:ext cx="5852172" cy="4389129"/>
          </a:xfrm>
          <a:prstGeom prst="rect">
            <a:avLst/>
          </a:prstGeom>
        </p:spPr>
      </p:pic>
      <p:pic>
        <p:nvPicPr>
          <p:cNvPr id="1051" name="Picture 1050">
            <a:extLst>
              <a:ext uri="{FF2B5EF4-FFF2-40B4-BE49-F238E27FC236}">
                <a16:creationId xmlns:a16="http://schemas.microsoft.com/office/drawing/2014/main" id="{6567A98E-2DEF-0DA6-2E76-D36C0A11D1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888298" y="16691159"/>
            <a:ext cx="5852172" cy="43891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166</TotalTime>
  <Words>676</Words>
  <Application>Microsoft Office PowerPoint</Application>
  <PresentationFormat>Custom</PresentationFormat>
  <Paragraphs>49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Kaviyashree J</cp:lastModifiedBy>
  <cp:revision>69</cp:revision>
  <dcterms:created xsi:type="dcterms:W3CDTF">2023-04-19T08:35:00Z</dcterms:created>
  <dcterms:modified xsi:type="dcterms:W3CDTF">2024-04-04T16:54:17Z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